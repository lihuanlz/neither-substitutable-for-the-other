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903720" y="2423160"/>
            <a:ext cx="2103120" cy="2103120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43800" y="3063240"/>
            <a:ext cx="822960" cy="822960"/>
          </a:xfrm>
          <a:prstGeom prst="ellipse">
            <a:avLst/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60920" y="4133087"/>
            <a:ext cx="274320" cy="27432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327648" y="2761488"/>
            <a:ext cx="164592" cy="164592"/>
          </a:xfrm>
          <a:prstGeom prst="ellipse">
            <a:avLst/>
          </a:prstGeom>
          <a:solidFill>
            <a:srgbClr val="83C5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326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DDD2"/>
                </a:solidFill>
                <a:latin typeface="Microsoft YaHei"/>
                <a:ea typeface="Microsoft YaHei"/>
                <a:cs typeface="Microsoft YaHei"/>
              </a:rPr>
              <a:t>Formalization · Lean 4 + Mathlib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16736"/>
            <a:ext cx="78638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EDF6F9"/>
                </a:solidFill>
                <a:latin typeface="Microsoft YaHei"/>
                <a:ea typeface="Microsoft YaHei"/>
                <a:cs typeface="Microsoft YaHei"/>
              </a:rPr>
              <a:t>The Identifiability Limit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87168"/>
            <a:ext cx="5486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DDD2"/>
                </a:solidFill>
                <a:latin typeface="Microsoft YaHei"/>
                <a:ea typeface="Microsoft YaHei"/>
                <a:cs typeface="Microsoft YaHei"/>
              </a:rPr>
              <a:t>How much of this work is human?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DDD2"/>
                </a:solidFill>
                <a:latin typeface="Microsoft YaHei"/>
                <a:ea typeface="Microsoft YaHei"/>
                <a:cs typeface="Microsoft YaHei"/>
              </a:rPr>
              <a:t>Now 163 machine-checked theorems.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85615"/>
            <a:ext cx="18288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DDD2"/>
                </a:solidFill>
                <a:latin typeface="Georgia"/>
                <a:ea typeface="Georgia"/>
                <a:cs typeface="Georgia"/>
              </a:rPr>
              <a:t>163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DDD2"/>
                </a:solidFill>
                <a:latin typeface="Microsoft YaHei"/>
                <a:ea typeface="Microsoft YaHei"/>
                <a:cs typeface="Microsoft YaHei"/>
              </a:rPr>
              <a:t>proved theorems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785615"/>
            <a:ext cx="18288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DDD2"/>
                </a:solidFill>
                <a:latin typeface="Georgia"/>
                <a:ea typeface="Georgia"/>
                <a:cs typeface="Georgia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297680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DDD2"/>
                </a:solidFill>
                <a:latin typeface="Microsoft YaHei"/>
                <a:ea typeface="Microsoft YaHei"/>
                <a:cs typeface="Microsoft YaHei"/>
              </a:rPr>
              <a:t>sorry, added axioms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785615"/>
            <a:ext cx="18288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DDD2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297680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DDD2"/>
                </a:solidFill>
                <a:latin typeface="Microsoft YaHei"/>
                <a:ea typeface="Microsoft YaHei"/>
                <a:cs typeface="Microsoft YaHei"/>
              </a:rPr>
              <a:t>formalized modules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8347" y="33375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949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What This Deck Covers</a:t>
            </a:r>
          </a:p>
        </p:txBody>
      </p:sp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1252728"/>
            <a:ext cx="365760" cy="365760"/>
          </a:xfrm>
          <a:prstGeom prst="ellipse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7101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DF6F9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234440"/>
            <a:ext cx="2651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The Bird You Miss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6512" y="1280160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Not detected is not the same as absent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1920239"/>
            <a:ext cx="365760" cy="365760"/>
          </a:xfrm>
          <a:prstGeom prst="ellipse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3852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DF6F9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1901951"/>
            <a:ext cx="2651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The Detection Ceiling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6512" y="1947672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Effort never passes that ceiling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" y="2587752"/>
            <a:ext cx="365760" cy="365760"/>
          </a:xfrm>
          <a:prstGeom prst="ellipse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260604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DF6F9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2569464"/>
            <a:ext cx="2651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Truth Is Not a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6512" y="261518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The protocol decides what you can see</a:t>
            </a:r>
          </a:p>
        </p:txBody>
      </p:sp>
      <p:sp>
        <p:nvSpPr>
          <p:cNvPr id="21" name="Oval 20"/>
          <p:cNvSpPr/>
          <p:nvPr/>
        </p:nvSpPr>
        <p:spPr>
          <a:xfrm>
            <a:off x="713232" y="3255263"/>
            <a:ext cx="365760" cy="365760"/>
          </a:xfrm>
          <a:prstGeom prst="ellipse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273551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DF6F9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236975"/>
            <a:ext cx="2651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The Sign Is Unidentified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512" y="3282696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One estimator cannot fix its own sign</a:t>
            </a:r>
          </a:p>
        </p:txBody>
      </p:sp>
      <p:sp>
        <p:nvSpPr>
          <p:cNvPr id="25" name="Oval 24"/>
          <p:cNvSpPr/>
          <p:nvPr/>
        </p:nvSpPr>
        <p:spPr>
          <a:xfrm>
            <a:off x="713232" y="3922776"/>
            <a:ext cx="365760" cy="365760"/>
          </a:xfrm>
          <a:prstGeom prst="ellipse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394106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DF6F9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3904488"/>
            <a:ext cx="2651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Claims Become Theorems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96512" y="3950208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163 Lean 4 proofs, zero sorry, zero added axioms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96112"/>
            <a:ext cx="27432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0" b="1" i="0">
                <a:solidFill>
                  <a:srgbClr val="FFDDD2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42032"/>
            <a:ext cx="52120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DF6F9"/>
                </a:solidFill>
                <a:latin typeface="Microsoft YaHei"/>
                <a:ea typeface="Microsoft YaHei"/>
                <a:cs typeface="Microsoft YaHei"/>
              </a:rPr>
              <a:t>The Bird You Miss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DDD2"/>
                </a:solidFill>
                <a:latin typeface="Microsoft YaHei"/>
                <a:ea typeface="Microsoft YaHei"/>
                <a:cs typeface="Microsoft YaHei"/>
              </a:rPr>
              <a:t>Ecologists said this long before AI.</a:t>
            </a:r>
          </a:p>
        </p:txBody>
      </p:sp>
      <p:sp>
        <p:nvSpPr>
          <p:cNvPr id="5" name="Oval 4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DDD2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8347" y="33375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ECOLOGY · AN OLD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949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The Bird You Never See</a:t>
            </a:r>
          </a:p>
        </p:txBody>
      </p:sp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70432"/>
            <a:ext cx="4069080" cy="841248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Unseen ≠ Absent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267712"/>
            <a:ext cx="91440" cy="9144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1945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The bird is not in this stand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2706624"/>
            <a:ext cx="91440" cy="9144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6334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It is there, but too dark, too dense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145536"/>
            <a:ext cx="91440" cy="9144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07238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It is there, but wind and distance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529584"/>
            <a:ext cx="4069080" cy="1042415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675887"/>
            <a:ext cx="378561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Repeated surveys raise detection, never to 1.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The ceiling is set by the protocol.</a:t>
            </a:r>
          </a:p>
        </p:txBody>
      </p:sp>
      <p:pic>
        <p:nvPicPr>
          <p:cNvPr id="19" name="Picture 18" descr="anime_01_cryptic_speci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170432"/>
            <a:ext cx="3749039" cy="209248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64608" y="3383280"/>
            <a:ext cx="37490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Under one protocol, look-alike states are lumped together. More sampling raises detection; what the protocol cannot separate, it never will.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8347" y="33375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THE PROBLEM · ONE MISTAKE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949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AI Repeats This Mistake</a:t>
            </a:r>
          </a:p>
        </p:txBody>
      </p:sp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70432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61872"/>
            <a:ext cx="3931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Ecologists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170432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261872"/>
            <a:ext cx="3931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DF6F9"/>
                </a:solidFill>
                <a:latin typeface="Microsoft YaHei"/>
                <a:ea typeface="Microsoft YaHei"/>
                <a:cs typeface="Microsoft YaHei"/>
              </a:rPr>
              <a:t>AI-assisted research today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783080"/>
            <a:ext cx="10972" cy="2194560"/>
          </a:xfrm>
          <a:prstGeom prst="rect">
            <a:avLst/>
          </a:prstGeom>
          <a:solidFill>
            <a:srgbClr val="83C5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7219" y="1915668"/>
            <a:ext cx="82296" cy="8229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1837943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Unseen → recorded as undetected</a:t>
            </a:r>
          </a:p>
        </p:txBody>
      </p:sp>
      <p:sp>
        <p:nvSpPr>
          <p:cNvPr id="16" name="Oval 15"/>
          <p:cNvSpPr/>
          <p:nvPr/>
        </p:nvSpPr>
        <p:spPr>
          <a:xfrm>
            <a:off x="4823460" y="1915668"/>
            <a:ext cx="82296" cy="82296"/>
          </a:xfrm>
          <a:prstGeom prst="ellipse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7488" y="1837943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Undetected → taken as absent</a:t>
            </a:r>
          </a:p>
        </p:txBody>
      </p:sp>
      <p:sp>
        <p:nvSpPr>
          <p:cNvPr id="18" name="Oval 17"/>
          <p:cNvSpPr/>
          <p:nvPr/>
        </p:nvSpPr>
        <p:spPr>
          <a:xfrm>
            <a:off x="617219" y="2482596"/>
            <a:ext cx="82296" cy="8229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2404872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Reference: the true species distribution</a:t>
            </a:r>
          </a:p>
        </p:txBody>
      </p:sp>
      <p:sp>
        <p:nvSpPr>
          <p:cNvPr id="20" name="Oval 19"/>
          <p:cNvSpPr/>
          <p:nvPr/>
        </p:nvSpPr>
        <p:spPr>
          <a:xfrm>
            <a:off x="4823460" y="2482596"/>
            <a:ext cx="82296" cy="82296"/>
          </a:xfrm>
          <a:prstGeom prst="ellipse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7488" y="240487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Reference: the published record</a:t>
            </a:r>
          </a:p>
        </p:txBody>
      </p:sp>
      <p:sp>
        <p:nvSpPr>
          <p:cNvPr id="22" name="Oval 21"/>
          <p:cNvSpPr/>
          <p:nvPr/>
        </p:nvSpPr>
        <p:spPr>
          <a:xfrm>
            <a:off x="617219" y="3049524"/>
            <a:ext cx="82296" cy="8229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2971799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Change protocol → conclusion changes</a:t>
            </a:r>
          </a:p>
        </p:txBody>
      </p:sp>
      <p:sp>
        <p:nvSpPr>
          <p:cNvPr id="24" name="Oval 23"/>
          <p:cNvSpPr/>
          <p:nvPr/>
        </p:nvSpPr>
        <p:spPr>
          <a:xfrm>
            <a:off x="4823460" y="3049524"/>
            <a:ext cx="82296" cy="82296"/>
          </a:xfrm>
          <a:prstGeom prst="ellipse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7488" y="2971799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Change model → conclusion flips</a:t>
            </a:r>
          </a:p>
        </p:txBody>
      </p:sp>
      <p:sp>
        <p:nvSpPr>
          <p:cNvPr id="26" name="Oval 25"/>
          <p:cNvSpPr/>
          <p:nvPr/>
        </p:nvSpPr>
        <p:spPr>
          <a:xfrm>
            <a:off x="617219" y="3616452"/>
            <a:ext cx="82296" cy="8229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3538727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Repeat surveys → detection rises</a:t>
            </a:r>
          </a:p>
        </p:txBody>
      </p:sp>
      <p:sp>
        <p:nvSpPr>
          <p:cNvPr id="28" name="Oval 27"/>
          <p:cNvSpPr/>
          <p:nvPr/>
        </p:nvSpPr>
        <p:spPr>
          <a:xfrm>
            <a:off x="4823460" y="3616452"/>
            <a:ext cx="82296" cy="82296"/>
          </a:xfrm>
          <a:prstGeom prst="ellipse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7488" y="353872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More rounds → actually more accurate?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041648"/>
            <a:ext cx="8138160" cy="566928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160520"/>
            <a:ext cx="7589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AI research treats model output as the observation itself.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96112"/>
            <a:ext cx="27432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0" b="1" i="0">
                <a:solidFill>
                  <a:srgbClr val="FFDDD2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42032"/>
            <a:ext cx="52120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DF6F9"/>
                </a:solidFill>
                <a:latin typeface="Microsoft YaHei"/>
                <a:ea typeface="Microsoft YaHei"/>
                <a:cs typeface="Microsoft YaHei"/>
              </a:rPr>
              <a:t>The Detection Ceiling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DDD2"/>
                </a:solidFill>
                <a:latin typeface="Microsoft YaHei"/>
                <a:ea typeface="Microsoft YaHei"/>
                <a:cs typeface="Microsoft YaHei"/>
              </a:rPr>
              <a:t>Not new. A theorem from decades ago, rarely pushed.</a:t>
            </a:r>
          </a:p>
        </p:txBody>
      </p:sp>
      <p:pic>
        <p:nvPicPr>
          <p:cNvPr id="5" name="Picture 4" descr="anime_02_verification_flo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47088"/>
            <a:ext cx="2606040" cy="1454534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DDD2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8347" y="33375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CONTENT LAYER · RESULT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949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The Best Detector Is Already Computed</a:t>
            </a:r>
          </a:p>
        </p:txBody>
      </p:sp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07008"/>
            <a:ext cx="3977639" cy="1645920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26464"/>
            <a:ext cx="35204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TV /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31136"/>
            <a:ext cx="35204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Best any detector beats a coin flip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207008"/>
            <a:ext cx="3977639" cy="164592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481328"/>
            <a:ext cx="35204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(1 − TV) /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231136"/>
            <a:ext cx="35204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Smallest error rate of the best detector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80944"/>
            <a:ext cx="8138160" cy="493776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108960"/>
            <a:ext cx="7589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TV = how far apart two distributions are, 0 to 1. TV = 0 means you cannot tell them apart.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02736"/>
            <a:ext cx="8138160" cy="859536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730752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Example: reference p=(0.42, 0.28, 0.18, 0.12), model q=(0.10, 0.20, 0.40, 0.30)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TV = 0.40 → at best 0.20 above chance, error rate 0.30.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553712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Source: Fig. 1: the Neyman-Pearson / Le Cam two-point lemma, not our result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8347" y="33375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CONTENT LAYER · RESULT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949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More Verification Is Not Better</a:t>
            </a:r>
          </a:p>
        </p:txBody>
      </p:sp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pic>
        <p:nvPicPr>
          <p:cNvPr id="9" name="Picture 8" descr="chart_fl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25296"/>
            <a:ext cx="4434840" cy="27717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38928" y="1280160"/>
            <a:ext cx="35021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Miss rate falls, then stops</a:t>
            </a:r>
          </a:p>
        </p:txBody>
      </p:sp>
      <p:sp>
        <p:nvSpPr>
          <p:cNvPr id="11" name="Oval 10"/>
          <p:cNvSpPr/>
          <p:nvPr/>
        </p:nvSpPr>
        <p:spPr>
          <a:xfrm>
            <a:off x="5212080" y="1938528"/>
            <a:ext cx="91440" cy="9144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1856231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Each round multiplies the miss probability: geometric decay</a:t>
            </a:r>
          </a:p>
        </p:txBody>
      </p:sp>
      <p:sp>
        <p:nvSpPr>
          <p:cNvPr id="13" name="Oval 12"/>
          <p:cNvSpPr/>
          <p:nvPr/>
        </p:nvSpPr>
        <p:spPr>
          <a:xfrm>
            <a:off x="5212080" y="2505456"/>
            <a:ext cx="91440" cy="9144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242316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But there is a floor it never falls below</a:t>
            </a:r>
          </a:p>
        </p:txBody>
      </p:sp>
      <p:sp>
        <p:nvSpPr>
          <p:cNvPr id="15" name="Oval 14"/>
          <p:cNvSpPr/>
          <p:nvPr/>
        </p:nvSpPr>
        <p:spPr>
          <a:xfrm>
            <a:off x="5212080" y="3072384"/>
            <a:ext cx="91440" cy="9144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80" y="2990087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Floor = λ × TV: how separable the two 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8928" y="3639312"/>
            <a:ext cx="3502152" cy="566928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85232" y="3730752"/>
            <a:ext cx="32186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Floor T = 0.09: more reviewers stop 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133087"/>
            <a:ext cx="4343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Parameters: TV = 0.09, q = 0.5, λ = 1 (as in Fig. 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8347" y="33375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CONTENT LAYER · RESULT 2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949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Where the Budget Sticks: Three Numbers</a:t>
            </a:r>
          </a:p>
        </p:txBody>
      </p:sp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25296"/>
            <a:ext cx="2697480" cy="1691640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26464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N_c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755648"/>
            <a:ext cx="2240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3.793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395728"/>
            <a:ext cx="22402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Set by reviewer reliability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1225296"/>
            <a:ext cx="2697480" cy="169164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1426464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N_0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1755648"/>
            <a:ext cx="2240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3.474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395728"/>
            <a:ext cx="22402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Hard cap, no human in 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0216" y="1225296"/>
            <a:ext cx="2697480" cy="1691640"/>
          </a:xfrm>
          <a:prstGeom prst="roundRect">
            <a:avLst>
              <a:gd name="adj" fmla="val 10000"/>
            </a:avLst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1426464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DF6F9"/>
                </a:solidFill>
                <a:latin typeface="Microsoft YaHei"/>
                <a:ea typeface="Microsoft YaHei"/>
                <a:cs typeface="Microsoft YaHei"/>
              </a:rPr>
              <a:t>N*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1755648"/>
            <a:ext cx="2240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DF6F9"/>
                </a:solidFill>
                <a:latin typeface="Georgia"/>
                <a:ea typeface="Georgia"/>
                <a:cs typeface="Georgia"/>
              </a:rPr>
              <a:t>3.474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2395728"/>
            <a:ext cx="22402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DF6F9"/>
                </a:solidFill>
                <a:latin typeface="Microsoft YaHei"/>
                <a:ea typeface="Microsoft YaHei"/>
                <a:cs typeface="Microsoft YaHei"/>
              </a:rPr>
              <a:t>The smaller: here N_0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127248"/>
            <a:ext cx="8138160" cy="896112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291840"/>
            <a:ext cx="758952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Perfect reviewers still cap the budget at 3.474.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The remaining misses no headcount can recover.</a:t>
            </a:r>
          </a:p>
        </p:txBody>
      </p:sp>
      <p:sp>
        <p:nvSpPr>
          <p:cNvPr id="23" name="Oval 22"/>
          <p:cNvSpPr/>
          <p:nvPr/>
        </p:nvSpPr>
        <p:spPr>
          <a:xfrm>
            <a:off x="612647" y="4270248"/>
            <a:ext cx="91440" cy="9144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187952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In 83.97% of parameter sets the detector binds, not the person.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626864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Parameters: TV = 0.09, q = 0.5, λ = 1, as in Fig. 2 (N_c: another reviewer p)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96112"/>
            <a:ext cx="27432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0" b="1" i="0">
                <a:solidFill>
                  <a:srgbClr val="FFDDD2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42032"/>
            <a:ext cx="52120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DF6F9"/>
                </a:solidFill>
                <a:latin typeface="Microsoft YaHei"/>
                <a:ea typeface="Microsoft YaHei"/>
                <a:cs typeface="Microsoft YaHei"/>
              </a:rPr>
              <a:t>Truth Is Not a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DDD2"/>
                </a:solidFill>
                <a:latin typeface="Microsoft YaHei"/>
                <a:ea typeface="Microsoft YaHei"/>
                <a:cs typeface="Microsoft YaHei"/>
              </a:rPr>
              <a:t>Change the protocol and the truth moves.</a:t>
            </a:r>
          </a:p>
        </p:txBody>
      </p:sp>
      <p:sp>
        <p:nvSpPr>
          <p:cNvPr id="5" name="Oval 4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DDD2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8347" y="33375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SYSTEM LAYER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949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Truth Is a Class, Not a Point</a:t>
            </a:r>
          </a:p>
        </p:txBody>
      </p:sp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39776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Old way: the answer is one point; estimate the distance.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39696"/>
            <a:ext cx="39776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Our way: which states look identical under this protocol?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054096"/>
            <a:ext cx="3977639" cy="969264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36976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They form a class [s*]. Error becomes a function of the protocol.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15584" y="1316736"/>
            <a:ext cx="1481328" cy="365760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98464" y="1389888"/>
            <a:ext cx="182880" cy="18288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64224" y="1389888"/>
            <a:ext cx="182880" cy="18288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29983" y="1389888"/>
            <a:ext cx="182880" cy="18288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5744" y="1389888"/>
            <a:ext cx="182880" cy="182880"/>
          </a:xfrm>
          <a:prstGeom prst="ellipse">
            <a:avLst/>
          </a:prstGeom>
          <a:solidFill>
            <a:srgbClr val="EDF6F9"/>
          </a:solidFill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61504" y="1389888"/>
            <a:ext cx="182880" cy="182880"/>
          </a:xfrm>
          <a:prstGeom prst="ellipse">
            <a:avLst/>
          </a:prstGeom>
          <a:solidFill>
            <a:srgbClr val="EDF6F9"/>
          </a:solidFill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827263" y="1389888"/>
            <a:ext cx="182880" cy="182880"/>
          </a:xfrm>
          <a:prstGeom prst="ellipse">
            <a:avLst/>
          </a:prstGeom>
          <a:solidFill>
            <a:srgbClr val="EDF6F9"/>
          </a:solidFill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28032" y="1408176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Strict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15584" y="2231136"/>
            <a:ext cx="1115568" cy="365760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98464" y="2304288"/>
            <a:ext cx="182880" cy="18288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2304288"/>
            <a:ext cx="182880" cy="18288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29983" y="2304288"/>
            <a:ext cx="182880" cy="182880"/>
          </a:xfrm>
          <a:prstGeom prst="ellipse">
            <a:avLst/>
          </a:prstGeom>
          <a:solidFill>
            <a:srgbClr val="EDF6F9"/>
          </a:solidFill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95744" y="2304288"/>
            <a:ext cx="182880" cy="182880"/>
          </a:xfrm>
          <a:prstGeom prst="ellipse">
            <a:avLst/>
          </a:prstGeom>
          <a:solidFill>
            <a:srgbClr val="EDF6F9"/>
          </a:solidFill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61504" y="2304288"/>
            <a:ext cx="182880" cy="182880"/>
          </a:xfrm>
          <a:prstGeom prst="ellipse">
            <a:avLst/>
          </a:prstGeom>
          <a:solidFill>
            <a:srgbClr val="EDF6F9"/>
          </a:solidFill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827263" y="2304288"/>
            <a:ext cx="182880" cy="182880"/>
          </a:xfrm>
          <a:prstGeom prst="ellipse">
            <a:avLst/>
          </a:prstGeom>
          <a:solidFill>
            <a:srgbClr val="EDF6F9"/>
          </a:solidFill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8032" y="2322576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Medium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15584" y="3145536"/>
            <a:ext cx="2578608" cy="365760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98464" y="3218688"/>
            <a:ext cx="182880" cy="18288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64224" y="3218688"/>
            <a:ext cx="182880" cy="18288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29983" y="3218688"/>
            <a:ext cx="182880" cy="18288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95744" y="3218688"/>
            <a:ext cx="182880" cy="18288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461504" y="3218688"/>
            <a:ext cx="182880" cy="18288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827263" y="3218688"/>
            <a:ext cx="182880" cy="182880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28032" y="3236976"/>
            <a:ext cx="868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Loose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28032" y="3877056"/>
            <a:ext cx="38130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The same truth mixes different states under different protocols.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8347" y="33375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SYSTEM LAYER · RESULT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949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Two Accounts of Credit</a:t>
            </a:r>
          </a:p>
        </p:txBody>
      </p:sp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25296"/>
            <a:ext cx="4069080" cy="1755648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08176"/>
            <a:ext cx="3566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Human credit: change the layer</a:t>
            </a:r>
          </a:p>
        </p:txBody>
      </p:sp>
      <p:sp>
        <p:nvSpPr>
          <p:cNvPr id="11" name="Oval 10"/>
          <p:cNvSpPr/>
          <p:nvPr/>
        </p:nvSpPr>
        <p:spPr>
          <a:xfrm>
            <a:off x="827531" y="1906524"/>
            <a:ext cx="82296" cy="8229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1828800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Ask a better question</a:t>
            </a:r>
          </a:p>
        </p:txBody>
      </p:sp>
      <p:sp>
        <p:nvSpPr>
          <p:cNvPr id="13" name="Oval 12"/>
          <p:cNvSpPr/>
          <p:nvPr/>
        </p:nvSpPr>
        <p:spPr>
          <a:xfrm>
            <a:off x="827531" y="2272284"/>
            <a:ext cx="82296" cy="8229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194560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Formally: change Φ(α) itself</a:t>
            </a:r>
          </a:p>
        </p:txBody>
      </p:sp>
      <p:sp>
        <p:nvSpPr>
          <p:cNvPr id="15" name="Oval 14"/>
          <p:cNvSpPr/>
          <p:nvPr/>
        </p:nvSpPr>
        <p:spPr>
          <a:xfrm>
            <a:off x="827531" y="2638044"/>
            <a:ext cx="82296" cy="8229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560320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Gain has no ceiling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08960"/>
            <a:ext cx="4069080" cy="1207008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73552"/>
            <a:ext cx="3566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AI credit: compress within the layer</a:t>
            </a:r>
          </a:p>
        </p:txBody>
      </p:sp>
      <p:sp>
        <p:nvSpPr>
          <p:cNvPr id="19" name="Oval 18"/>
          <p:cNvSpPr/>
          <p:nvPr/>
        </p:nvSpPr>
        <p:spPr>
          <a:xfrm>
            <a:off x="827531" y="3762756"/>
            <a:ext cx="82296" cy="82296"/>
          </a:xfrm>
          <a:prstGeom prst="ellipse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694176"/>
            <a:ext cx="3291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Push error toward Φ(α)</a:t>
            </a:r>
          </a:p>
        </p:txBody>
      </p:sp>
      <p:sp>
        <p:nvSpPr>
          <p:cNvPr id="21" name="Oval 20"/>
          <p:cNvSpPr/>
          <p:nvPr/>
        </p:nvSpPr>
        <p:spPr>
          <a:xfrm>
            <a:off x="827531" y="4073652"/>
            <a:ext cx="82296" cy="82296"/>
          </a:xfrm>
          <a:prstGeom prst="ellipse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005072"/>
            <a:ext cx="3291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Marginal gain shrinks, hard cap</a:t>
            </a:r>
          </a:p>
        </p:txBody>
      </p:sp>
      <p:pic>
        <p:nvPicPr>
          <p:cNvPr id="23" name="Picture 22" descr="anime_04_two_currenci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225296"/>
            <a:ext cx="3566160" cy="19904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74920" y="3310128"/>
            <a:ext cx="35661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AI hits a wall inside the layer; a human changes layer.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74920" y="3986784"/>
            <a:ext cx="3566160" cy="566928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85232" y="4041648"/>
            <a:ext cx="31546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“AI helps” holds only when the layer is fixed, the state with no human credit.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8347" y="33375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SYSTEM LAYER · REBUTTAL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949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Influence ≠ Value</a:t>
            </a:r>
          </a:p>
        </p:txBody>
      </p:sp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25296"/>
            <a:ext cx="2148840" cy="960120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2148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+M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225296"/>
            <a:ext cx="2148840" cy="96012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371600"/>
            <a:ext cx="2148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−M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395728"/>
            <a:ext cx="4434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Two outputs, identical |influence|.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43200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One is +M, the other −M, and M is arbitrary.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291840"/>
            <a:ext cx="4434840" cy="960120"/>
          </a:xfrm>
          <a:prstGeom prst="roundRect">
            <a:avLst>
              <a:gd name="adj" fmla="val 10000"/>
            </a:avLst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56432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DF6F9"/>
                </a:solidFill>
                <a:latin typeface="Microsoft YaHei"/>
                <a:ea typeface="Microsoft YaHei"/>
                <a:cs typeface="Microsoft YaHei"/>
              </a:rPr>
              <a:t>Influence cannot stand in for value.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DDD2"/>
                </a:solidFill>
                <a:latin typeface="Microsoft YaHei"/>
                <a:ea typeface="Microsoft YaHei"/>
                <a:cs typeface="Microsoft YaHei"/>
              </a:rPr>
              <a:t>That is a defect of definition.</a:t>
            </a:r>
          </a:p>
        </p:txBody>
      </p:sp>
      <p:pic>
        <p:nvPicPr>
          <p:cNvPr id="17" name="Picture 16" descr="anime_03_direction_matt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1225296"/>
            <a:ext cx="3410712" cy="190365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230368" y="3255264"/>
            <a:ext cx="34107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KL and mutual information measure magnitude only.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30368" y="4069080"/>
            <a:ext cx="3410712" cy="502920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13248" y="4160520"/>
            <a:ext cx="30449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Value needs a sign.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8347" y="33375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SYSTEM LAYER · VERDICT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949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Incommensurable Has Two Regimes</a:t>
            </a:r>
          </a:p>
        </p:txBody>
      </p:sp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25296"/>
            <a:ext cx="3977639" cy="2331720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26464"/>
            <a:ext cx="347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When the floor binds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10512"/>
            <a:ext cx="3474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Incommensurable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50592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Reviewers of any reliability: same budget.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Not even a ranking survives.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225296"/>
            <a:ext cx="3977639" cy="233172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1426464"/>
            <a:ext cx="347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When the floor is slack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810512"/>
            <a:ext cx="3474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Commensurable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450592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Who is stronger is visible.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But the rate is not proportional.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49039"/>
            <a:ext cx="8138160" cy="777240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877056"/>
            <a:ext cx="7589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The exact claim: not linearly convertible.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The stronger version is refuted; formalization rewrote our claim.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96112"/>
            <a:ext cx="27432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0" b="1" i="0">
                <a:solidFill>
                  <a:srgbClr val="FFDDD2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42032"/>
            <a:ext cx="52120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DF6F9"/>
                </a:solidFill>
                <a:latin typeface="Microsoft YaHei"/>
                <a:ea typeface="Microsoft YaHei"/>
                <a:cs typeface="Microsoft YaHei"/>
              </a:rPr>
              <a:t>Sign Is Not Identified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DDD2"/>
                </a:solidFill>
                <a:latin typeface="Microsoft YaHei"/>
                <a:ea typeface="Microsoft YaHei"/>
                <a:cs typeface="Microsoft YaHei"/>
              </a:rPr>
              <a:t>The problem is direction, not precision.</a:t>
            </a:r>
          </a:p>
        </p:txBody>
      </p:sp>
      <p:sp>
        <p:nvSpPr>
          <p:cNvPr id="5" name="Oval 4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DDD2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8347" y="33375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CALIBRATION LAYER ·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949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The Standard Estimator Has No Human</a:t>
            </a:r>
          </a:p>
        </p:txBody>
      </p:sp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25296"/>
            <a:ext cx="8138160" cy="1234440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81328"/>
            <a:ext cx="8138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φ̂  =  1  −  τ̄ / s̄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15184"/>
            <a:ext cx="3977639" cy="603504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24912"/>
            <a:ext cx="3566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τ̄ = the fitted plausibility bar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615184"/>
            <a:ext cx="3977639" cy="603504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724912"/>
            <a:ext cx="3566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s̄ = mean surprisal of the output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64992"/>
            <a:ext cx="8138160" cy="1024128"/>
          </a:xfrm>
          <a:prstGeom prst="roundRect">
            <a:avLst>
              <a:gd name="adj" fmla="val 10000"/>
            </a:avLst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547872"/>
            <a:ext cx="758952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DF6F9"/>
                </a:solidFill>
                <a:latin typeface="Microsoft YaHei"/>
                <a:ea typeface="Microsoft YaHei"/>
                <a:cs typeface="Microsoft YaHei"/>
              </a:rPr>
              <a:t>The human input x is not in the formula.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DDD2"/>
                </a:solidFill>
                <a:latin typeface="Microsoft YaHei"/>
                <a:ea typeface="Microsoft YaHei"/>
                <a:cs typeface="Microsoft YaHei"/>
              </a:rPr>
              <a:t>It measures how surprising the output is, not how human.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8347" y="33375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CALIBRATION LAYER · THEOREM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949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One Output, Two Signs</a:t>
            </a:r>
          </a:p>
        </p:txBody>
      </p:sp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17</a:t>
            </a:r>
          </a:p>
        </p:txBody>
      </p:sp>
      <p:pic>
        <p:nvPicPr>
          <p:cNvPr id="9" name="Picture 8" descr="chart_signf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43584"/>
            <a:ext cx="4297680" cy="2686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0" y="1280160"/>
            <a:ext cx="3611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Fix the output: s̄ = 0.50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755648"/>
            <a:ext cx="3611880" cy="713232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0368" y="1865376"/>
            <a:ext cx="32461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Calibration A · Llama-3: τ̄ = 0.5496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Reports −0.099: almost no human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596896"/>
            <a:ext cx="3611880" cy="713232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0368" y="2706624"/>
            <a:ext cx="32461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Calibration B · Mixtral: τ̄ = 0.4155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Reports +0.169: human present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456432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Same text, same data, opposite verdicts.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41648"/>
            <a:ext cx="8138160" cy="530352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33087"/>
            <a:ext cx="75895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Only the bar moved, and it was fitted on 2500 unrelated chat prompts.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626864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τ̄ from Xie et al. (ACL 2026), Appendix A.5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8347" y="33375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CALIBRATION LAYER · CONSEQUENCE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949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It Is Not Even a Proportion</a:t>
            </a:r>
          </a:p>
        </p:txBody>
      </p:sp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25296"/>
            <a:ext cx="3977639" cy="1691640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44752"/>
            <a:ext cx="34747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Bounded above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56816"/>
            <a:ext cx="347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φ̂ &lt; 1 always.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More surprising → closer to 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225296"/>
            <a:ext cx="3977639" cy="169164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444752"/>
            <a:ext cx="34747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No lower bound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956816"/>
            <a:ext cx="347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φ̂ goes below 0.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More predictable → further down.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090672"/>
            <a:ext cx="8138160" cy="841248"/>
          </a:xfrm>
          <a:prstGeom prst="roundRect">
            <a:avLst>
              <a:gd name="adj" fmla="val 10000"/>
            </a:avLst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55264"/>
            <a:ext cx="75895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DF6F9"/>
                </a:solidFill>
                <a:latin typeface="Microsoft YaHei"/>
                <a:ea typeface="Microsoft YaHei"/>
                <a:cs typeface="Microsoft YaHei"/>
              </a:rPr>
              <a:t>Reading it as a proportion in [0,1] fails in the estimator.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005072"/>
            <a:ext cx="7680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The authors saw these negatives and explained them inside their own framework: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“could plausibly have been generated with minimal or negligible human contribution” Xie et al., §5.5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96112"/>
            <a:ext cx="27432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0" b="1" i="0">
                <a:solidFill>
                  <a:srgbClr val="FFDDD2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42032"/>
            <a:ext cx="52120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DF6F9"/>
                </a:solidFill>
                <a:latin typeface="Microsoft YaHei"/>
                <a:ea typeface="Microsoft YaHei"/>
                <a:cs typeface="Microsoft YaHei"/>
              </a:rPr>
              <a:t>Claims Become Theorems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DDD2"/>
                </a:solidFill>
                <a:latin typeface="Microsoft YaHei"/>
                <a:ea typeface="Microsoft YaHei"/>
                <a:cs typeface="Microsoft YaHei"/>
              </a:rPr>
              <a:t>163 theorems, zero sorry, zero added axioms.</a:t>
            </a:r>
          </a:p>
        </p:txBody>
      </p:sp>
      <p:sp>
        <p:nvSpPr>
          <p:cNvPr id="5" name="Oval 4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DDD2"/>
                </a:solidFill>
                <a:latin typeface="Georgia"/>
                <a:ea typeface="Georgia"/>
                <a:cs typeface="Georgia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8347" y="33375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FORMALIZATION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949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163 Theorems, 13 Modules</a:t>
            </a:r>
          </a:p>
        </p:txBody>
      </p:sp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88720"/>
            <a:ext cx="2697480" cy="566928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1271016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Total variation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1527048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Basic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188720"/>
            <a:ext cx="2697480" cy="566928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1024" y="1271016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Contamination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1527048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Contamination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0216" y="1188720"/>
            <a:ext cx="2697480" cy="566928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1271016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1527048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Coverage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1865376"/>
            <a:ext cx="2697480" cy="566928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194767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Hypothesis 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" y="2203704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HypothesisTest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1568" y="1865376"/>
            <a:ext cx="2697480" cy="566928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94767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Refinement and observation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2203704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Refinement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0216" y="1865376"/>
            <a:ext cx="2697480" cy="566928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194767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Influence and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2203704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Value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2542032"/>
            <a:ext cx="2697480" cy="566928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" y="2624328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Verification budget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288036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VerifyBudget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01568" y="2542032"/>
            <a:ext cx="2697480" cy="566928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21024" y="2624328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Incommensurability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21024" y="288036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Incommensurable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0216" y="2542032"/>
            <a:ext cx="2697480" cy="566928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9672" y="2624328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Unidentified calibration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9672" y="288036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Calibration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3218687"/>
            <a:ext cx="2697480" cy="566928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" y="3300983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Fragmentation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" y="3557015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Fragmentation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01568" y="3218687"/>
            <a:ext cx="2697480" cy="566928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21024" y="3300983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Corpus as selection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21024" y="3557015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Corpus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0216" y="3218687"/>
            <a:ext cx="2697480" cy="566928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19672" y="3300983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Package root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9672" y="3557015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Provenance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3968496"/>
            <a:ext cx="8138160" cy="566928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4096512"/>
            <a:ext cx="7589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Lean 4 v4.15.0 + Mathlib · 163 theorems + 20 worked examples · zero sorry, zero added axioms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8347" y="33375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WHAT THE FORMALIZATION WAS WORTH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949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It Caught Us First</a:t>
            </a:r>
          </a:p>
        </p:txBody>
      </p:sp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25296"/>
            <a:ext cx="3977639" cy="1298448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08176"/>
            <a:ext cx="3429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An inequality was backwards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92224"/>
            <a:ext cx="3429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The proof failed. Lean killed our own modelling error.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225296"/>
            <a:ext cx="3977639" cy="1298448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59" y="1408176"/>
            <a:ext cx="3429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The residual had no floor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59" y="1792224"/>
            <a:ext cx="3429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“More verification is better” refuted; miss rate has a floor.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51760"/>
            <a:ext cx="3977639" cy="1298448"/>
          </a:xfrm>
          <a:prstGeom prst="roundRect">
            <a:avLst>
              <a:gd name="adj" fmla="val 10000"/>
            </a:avLst>
          </a:prstGeom>
          <a:solidFill>
            <a:srgbClr val="FF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834640"/>
            <a:ext cx="3429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Two monotonicities reversed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18688"/>
            <a:ext cx="3429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We expected the budget to fall with TV. It does not.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2651760"/>
            <a:ext cx="3977639" cy="1298448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59" y="2834640"/>
            <a:ext cx="3429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“Fully incommensurable” too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59" y="3218688"/>
            <a:ext cx="3429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Forced to the exact claim: not linearly convertible.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96512"/>
            <a:ext cx="8138160" cy="475488"/>
          </a:xfrm>
          <a:prstGeom prst="roundRect">
            <a:avLst>
              <a:gd name="adj" fmla="val 10000"/>
            </a:avLst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187952"/>
            <a:ext cx="7589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DF6F9"/>
                </a:solidFill>
                <a:latin typeface="Microsoft YaHei"/>
                <a:ea typeface="Microsoft YaHei"/>
                <a:cs typeface="Microsoft YaHei"/>
              </a:rPr>
              <a:t>A modelling error that survives the prover will not survive a coauthor.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8347" y="33375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7432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949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What We Proved</a:t>
            </a:r>
          </a:p>
        </p:txBody>
      </p:sp>
      <p:sp>
        <p:nvSpPr>
          <p:cNvPr id="6" name="Oval 5"/>
          <p:cNvSpPr/>
          <p:nvPr/>
        </p:nvSpPr>
        <p:spPr>
          <a:xfrm>
            <a:off x="8046720" y="182880"/>
            <a:ext cx="841248" cy="841248"/>
          </a:xfrm>
          <a:prstGeom prst="ellipse">
            <a:avLst/>
          </a:prstGeom>
          <a:noFill/>
          <a:ln w="15875">
            <a:solidFill>
              <a:srgbClr val="83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48472" y="484632"/>
            <a:ext cx="219456" cy="219456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0857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6D77"/>
                </a:solidFill>
                <a:latin typeface="Georgia"/>
                <a:ea typeface="Georgia"/>
                <a:cs typeface="Georgia"/>
              </a:rPr>
              <a:t>22</a:t>
            </a:r>
          </a:p>
        </p:txBody>
      </p:sp>
      <p:sp>
        <p:nvSpPr>
          <p:cNvPr id="9" name="Oval 8"/>
          <p:cNvSpPr/>
          <p:nvPr/>
        </p:nvSpPr>
        <p:spPr>
          <a:xfrm>
            <a:off x="662940" y="1303020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225296"/>
            <a:ext cx="7635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Unseen ≠ absent. AI treats model output as the observation.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662940" y="1778508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700784"/>
            <a:ext cx="7635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Detection has a ceiling. Effort does not move it.</a:t>
            </a:r>
          </a:p>
        </p:txBody>
      </p:sp>
      <p:sp>
        <p:nvSpPr>
          <p:cNvPr id="13" name="Oval 12"/>
          <p:cNvSpPr/>
          <p:nvPr/>
        </p:nvSpPr>
        <p:spPr>
          <a:xfrm>
            <a:off x="662940" y="2253996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176272"/>
            <a:ext cx="7635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The verification budget has a cap with no human in it.</a:t>
            </a:r>
          </a:p>
        </p:txBody>
      </p:sp>
      <p:sp>
        <p:nvSpPr>
          <p:cNvPr id="15" name="Oval 14"/>
          <p:cNvSpPr/>
          <p:nvPr/>
        </p:nvSpPr>
        <p:spPr>
          <a:xfrm>
            <a:off x="662940" y="2729484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51760"/>
            <a:ext cx="7635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Influence does not measure value. Value needs a sign.</a:t>
            </a:r>
          </a:p>
        </p:txBody>
      </p:sp>
      <p:sp>
        <p:nvSpPr>
          <p:cNvPr id="17" name="Oval 16"/>
          <p:cNvSpPr/>
          <p:nvPr/>
        </p:nvSpPr>
        <p:spPr>
          <a:xfrm>
            <a:off x="662940" y="3204972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127248"/>
            <a:ext cx="7635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The sign is not identified either; an out-of-distribution bar decides it.</a:t>
            </a:r>
          </a:p>
        </p:txBody>
      </p:sp>
      <p:sp>
        <p:nvSpPr>
          <p:cNvPr id="19" name="Oval 18"/>
          <p:cNvSpPr/>
          <p:nvPr/>
        </p:nvSpPr>
        <p:spPr>
          <a:xfrm>
            <a:off x="662940" y="3680460"/>
            <a:ext cx="100584" cy="100584"/>
          </a:xfrm>
          <a:prstGeom prst="ellipse">
            <a:avLst/>
          </a:prstGeom>
          <a:solidFill>
            <a:srgbClr val="E29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02736"/>
            <a:ext cx="7635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6D77"/>
                </a:solidFill>
                <a:latin typeface="Microsoft YaHei"/>
                <a:ea typeface="Microsoft YaHei"/>
                <a:cs typeface="Microsoft YaHei"/>
              </a:rPr>
              <a:t>163 theorems, zero sorry, zero added axioms, reproducible build.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05072"/>
            <a:ext cx="8138160" cy="585216"/>
          </a:xfrm>
          <a:prstGeom prst="roundRect">
            <a:avLst>
              <a:gd name="adj" fmla="val 10000"/>
            </a:avLst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059936"/>
            <a:ext cx="75895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DF6F9"/>
                </a:solidFill>
                <a:latin typeface="Microsoft YaHei"/>
                <a:ea typeface="Microsoft YaHei"/>
                <a:cs typeface="Microsoft YaHei"/>
              </a:rPr>
              <a:t>We do not attack existing measures; they work for their stated purpose.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DDD2"/>
                </a:solidFill>
                <a:latin typeface="Microsoft YaHei"/>
                <a:ea typeface="Microsoft YaHei"/>
                <a:cs typeface="Microsoft YaHei"/>
              </a:rPr>
              <a:t>We turned their prose warnings into theorems a machine can check.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Identifiability Limit</dc:title>
  <dc:subject>Identifiability of human and machine contribution</dc:subject>
  <dc:creator/>
  <cp:keywords/>
  <dc:description>163 Lean 4 theorems, zero sorry, no axioms beyond Classical.choice, Quot.sound and propext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