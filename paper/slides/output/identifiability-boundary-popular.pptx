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903720" y="2423160"/>
            <a:ext cx="2103120" cy="2103120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43800" y="3063240"/>
            <a:ext cx="822960" cy="822960"/>
          </a:xfrm>
          <a:prstGeom prst="ellipse">
            <a:avLst/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0920" y="4133087"/>
            <a:ext cx="274320" cy="27432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327648" y="2761488"/>
            <a:ext cx="164592" cy="164592"/>
          </a:xfrm>
          <a:prstGeom prst="ellipse">
            <a:avLst/>
          </a:prstGeom>
          <a:solidFill>
            <a:srgbClr val="83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326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Formalization · Lean 4 + Mathlib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16736"/>
            <a:ext cx="7863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Identifiability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548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How much of this work is human?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Now 153 machine-checked theorems.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proved theorems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sorry, added axioms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formalized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This Deck Covers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1252728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710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234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You Miss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128016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Not detected is not the same as absent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1920239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1901951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Detection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1947672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Effort never passes that ceiling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2587752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60604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569464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Truth Is Not a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2615184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protocol decides what you can see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255263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7355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236975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Sign Is Unidentified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6512" y="3282696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estimator cannot fix its own sign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3922776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9410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3904488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Claims Become Theorems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6512" y="3950208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Lean 4 proofs, zero sorry, zero added axioms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Bird You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Ecologists said this long before AI.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ECOLOGY · AN OLD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You Never See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≠ Absent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67712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945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is not in this stand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06624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there, but too dark, too dense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145536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there, but wind and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4069080" cy="1042415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675887"/>
            <a:ext cx="378561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Repeated surveys raise detection, never to 1.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ceiling is set by the protocol.</a:t>
            </a:r>
          </a:p>
        </p:txBody>
      </p:sp>
      <p:pic>
        <p:nvPicPr>
          <p:cNvPr id="19" name="Picture 18" descr="anime_01_cryptic_spec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1170432"/>
            <a:ext cx="3749039" cy="209248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64608" y="338328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Under one protocol, look-alike states are lumped together. More sampling raises detection; what the protocol cannot separate, it never will.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PROBLEM · ONE MISTAKE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Repeats This Mistake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3931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Ecologists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704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261872"/>
            <a:ext cx="3931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AI-assisted research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83080"/>
            <a:ext cx="10972" cy="2194560"/>
          </a:xfrm>
          <a:prstGeom prst="rect">
            <a:avLst/>
          </a:prstGeom>
          <a:solidFill>
            <a:srgbClr val="83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7219" y="1915668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837943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→ recorded as undetected</a:t>
            </a:r>
          </a:p>
        </p:txBody>
      </p:sp>
      <p:sp>
        <p:nvSpPr>
          <p:cNvPr id="16" name="Oval 15"/>
          <p:cNvSpPr/>
          <p:nvPr/>
        </p:nvSpPr>
        <p:spPr>
          <a:xfrm>
            <a:off x="4823460" y="1915668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837943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Undetected → taken as absent</a:t>
            </a:r>
          </a:p>
        </p:txBody>
      </p:sp>
      <p:sp>
        <p:nvSpPr>
          <p:cNvPr id="18" name="Oval 17"/>
          <p:cNvSpPr/>
          <p:nvPr/>
        </p:nvSpPr>
        <p:spPr>
          <a:xfrm>
            <a:off x="617219" y="2482596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2404872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Reference: the true species distribution</a:t>
            </a:r>
          </a:p>
        </p:txBody>
      </p:sp>
      <p:sp>
        <p:nvSpPr>
          <p:cNvPr id="20" name="Oval 19"/>
          <p:cNvSpPr/>
          <p:nvPr/>
        </p:nvSpPr>
        <p:spPr>
          <a:xfrm>
            <a:off x="4823460" y="2482596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240487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Reference: the published record</a:t>
            </a:r>
          </a:p>
        </p:txBody>
      </p:sp>
      <p:sp>
        <p:nvSpPr>
          <p:cNvPr id="22" name="Oval 21"/>
          <p:cNvSpPr/>
          <p:nvPr/>
        </p:nvSpPr>
        <p:spPr>
          <a:xfrm>
            <a:off x="617219" y="304952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297179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Change protocol → conclusion changes</a:t>
            </a:r>
          </a:p>
        </p:txBody>
      </p:sp>
      <p:sp>
        <p:nvSpPr>
          <p:cNvPr id="24" name="Oval 23"/>
          <p:cNvSpPr/>
          <p:nvPr/>
        </p:nvSpPr>
        <p:spPr>
          <a:xfrm>
            <a:off x="4823460" y="3049524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7488" y="297179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Change model → conclusion flips</a:t>
            </a:r>
          </a:p>
        </p:txBody>
      </p:sp>
      <p:sp>
        <p:nvSpPr>
          <p:cNvPr id="26" name="Oval 25"/>
          <p:cNvSpPr/>
          <p:nvPr/>
        </p:nvSpPr>
        <p:spPr>
          <a:xfrm>
            <a:off x="617219" y="3616452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3538727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Repeat surveys → detection rises</a:t>
            </a:r>
          </a:p>
        </p:txBody>
      </p:sp>
      <p:sp>
        <p:nvSpPr>
          <p:cNvPr id="28" name="Oval 27"/>
          <p:cNvSpPr/>
          <p:nvPr/>
        </p:nvSpPr>
        <p:spPr>
          <a:xfrm>
            <a:off x="4823460" y="3616452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353872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rounds → actually more accurate?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160520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research treats model output as the observation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Detection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Not new. A theorem from decades ago, rarely pushed.</a:t>
            </a:r>
          </a:p>
        </p:txBody>
      </p:sp>
      <p:pic>
        <p:nvPicPr>
          <p:cNvPr id="5" name="Picture 4" descr="anime_02_verification_flo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7088"/>
            <a:ext cx="2606040" cy="1454534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Best Detector Is Already Computed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07008"/>
            <a:ext cx="3977639" cy="16459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26464"/>
            <a:ext cx="35204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TV /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31136"/>
            <a:ext cx="35204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Best any detector beats a coin flip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07008"/>
            <a:ext cx="3977639" cy="16459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81328"/>
            <a:ext cx="3520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(1 − TV) /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231136"/>
            <a:ext cx="35204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Smallest error rate of the best detector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80944"/>
            <a:ext cx="8138160" cy="49377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08960"/>
            <a:ext cx="7589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TV = how far apart two distributions are, 0 to 1. TV = 0 means you cannot tell them apart.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8138160" cy="859536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0752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Example: reference p=(0.42, 0.28, 0.18, 0.12), model q=(0.10, 0.20, 0.40, 0.30)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TV = 0.40 → at best 0.20 above chance, error rate 0.30.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537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Source: Fig. 1 — the Neyman-Pearson / Le Cam two-point lemma, not our result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Verification Is Not Better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pic>
        <p:nvPicPr>
          <p:cNvPr id="9" name="Picture 8" descr="chart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25296"/>
            <a:ext cx="4434840" cy="27717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8928" y="1280160"/>
            <a:ext cx="3502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Miss rate falls, then stops</a:t>
            </a:r>
          </a:p>
        </p:txBody>
      </p:sp>
      <p:sp>
        <p:nvSpPr>
          <p:cNvPr id="11" name="Oval 10"/>
          <p:cNvSpPr/>
          <p:nvPr/>
        </p:nvSpPr>
        <p:spPr>
          <a:xfrm>
            <a:off x="5212080" y="1938528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1856231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Each round multiplies the miss probability: geometric decay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2505456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242316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But there is a floor it never falls below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3072384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80" y="2990087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Floor = λ × TV: how separable the two 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8" y="3639312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3730752"/>
            <a:ext cx="32186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Floor T = 0.09: more reviewers stop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7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Parameters: TV = 0.09, q = 0.5, λ = 1 (as in Fig. 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2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Where the Budget Sticks: Three Numbers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2697480" cy="16916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3.793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Set by reviewer reliability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225296"/>
            <a:ext cx="2697480" cy="16916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N_0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3.474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Hard cap, no human in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1225296"/>
            <a:ext cx="2697480" cy="169164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N*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3.474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smaller: here N_0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27248"/>
            <a:ext cx="8138160" cy="89611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291840"/>
            <a:ext cx="7589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Perfect reviewers still cap the budget at 3.474.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remaining misses no headcount can recover.</a:t>
            </a:r>
          </a:p>
        </p:txBody>
      </p:sp>
      <p:sp>
        <p:nvSpPr>
          <p:cNvPr id="23" name="Oval 22"/>
          <p:cNvSpPr/>
          <p:nvPr/>
        </p:nvSpPr>
        <p:spPr>
          <a:xfrm>
            <a:off x="612647" y="4270248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187952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 83.97% of parameter sets the detector binds, not the person.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26864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Parameters: TV = 0.09, q = 0.5, λ = 1, as in Fig. 2 (N_c: another reviewer 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Truth Is Not a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Change the protocol and the truth moves.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Truth Is a Class, Not a Point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39776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Old way: the answer is one point; estimate the distance.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39696"/>
            <a:ext cx="39776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Our way: which states look identical under this protocol?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3977639" cy="969264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36976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They form a class [s*]. Error becomes a function of the protocol.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1316736"/>
            <a:ext cx="148132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98464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64224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9983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5744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61504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27263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14081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Strict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15584" y="2231136"/>
            <a:ext cx="111556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464" y="23042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23042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29983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95744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61504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27263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23225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Medium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15584" y="3145536"/>
            <a:ext cx="257860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9846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6422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3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9574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46150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27263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32369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Loose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28032" y="3877056"/>
            <a:ext cx="3813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same truth mixes different states under different protocols.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RESULT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Accounts of Credit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4069080" cy="17556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Human credit: change the layer</a:t>
            </a:r>
          </a:p>
        </p:txBody>
      </p:sp>
      <p:sp>
        <p:nvSpPr>
          <p:cNvPr id="11" name="Oval 10"/>
          <p:cNvSpPr/>
          <p:nvPr/>
        </p:nvSpPr>
        <p:spPr>
          <a:xfrm>
            <a:off x="827531" y="190652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82880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Ask a better question</a:t>
            </a:r>
          </a:p>
        </p:txBody>
      </p:sp>
      <p:sp>
        <p:nvSpPr>
          <p:cNvPr id="13" name="Oval 12"/>
          <p:cNvSpPr/>
          <p:nvPr/>
        </p:nvSpPr>
        <p:spPr>
          <a:xfrm>
            <a:off x="827531" y="227228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Formally: change Φ(α) itself</a:t>
            </a:r>
          </a:p>
        </p:txBody>
      </p:sp>
      <p:sp>
        <p:nvSpPr>
          <p:cNvPr id="15" name="Oval 14"/>
          <p:cNvSpPr/>
          <p:nvPr/>
        </p:nvSpPr>
        <p:spPr>
          <a:xfrm>
            <a:off x="827531" y="263804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56032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Gain has no ceiling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069080" cy="120700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credit: compress within the layer</a:t>
            </a:r>
          </a:p>
        </p:txBody>
      </p:sp>
      <p:sp>
        <p:nvSpPr>
          <p:cNvPr id="19" name="Oval 18"/>
          <p:cNvSpPr/>
          <p:nvPr/>
        </p:nvSpPr>
        <p:spPr>
          <a:xfrm>
            <a:off x="827531" y="3762756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94176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Push error toward Φ(α)</a:t>
            </a:r>
          </a:p>
        </p:txBody>
      </p:sp>
      <p:sp>
        <p:nvSpPr>
          <p:cNvPr id="21" name="Oval 20"/>
          <p:cNvSpPr/>
          <p:nvPr/>
        </p:nvSpPr>
        <p:spPr>
          <a:xfrm>
            <a:off x="827531" y="4073652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00507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Marginal gain shrinks, hard cap</a:t>
            </a:r>
          </a:p>
        </p:txBody>
      </p:sp>
      <p:pic>
        <p:nvPicPr>
          <p:cNvPr id="23" name="Picture 22" descr="anime_04_two_currenc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25296"/>
            <a:ext cx="3566160" cy="19904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74920" y="3310128"/>
            <a:ext cx="3566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hits a wall inside the layer; a human changes layer.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3986784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85232" y="404164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“AI helps” holds only when the layer is fixed, the state with no human credit.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REBUTTAL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≠ Value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2148840" cy="9601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148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+M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225296"/>
            <a:ext cx="2148840" cy="9601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371600"/>
            <a:ext cx="2148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−M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95728"/>
            <a:ext cx="4434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outputs, identical |influence|.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4320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is +M, the other −M, and M is arbitrary.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91840"/>
            <a:ext cx="4434840" cy="96012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56432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Influence cannot stand in for value.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That is a defect of definition.</a:t>
            </a:r>
          </a:p>
        </p:txBody>
      </p:sp>
      <p:pic>
        <p:nvPicPr>
          <p:cNvPr id="17" name="Picture 16" descr="anime_03_direction_mat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25296"/>
            <a:ext cx="3410712" cy="190365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30368" y="3255264"/>
            <a:ext cx="3410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KL and mutual information measure magnitude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4069080"/>
            <a:ext cx="3410712" cy="5029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3248" y="4160520"/>
            <a:ext cx="304495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Value needs a sign.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 Has Two Regimes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23317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26464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When the floor binds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3474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5059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Reviewers of any reliability: same budget.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Not even a ranking survives.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25296"/>
            <a:ext cx="3977639" cy="23317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426464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When the floor is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810512"/>
            <a:ext cx="3474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Commensurable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45059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Who is stronger is visible.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But the rate is not proportional.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8138160" cy="7772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77056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exact claim: not linearly convertible.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stronger version is refuted; formalization rewrote our claim.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Sign Is Not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The problem is direction, not precision.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Standard Estimator Has No Human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8138160" cy="12344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8138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φ̂  =  1  −  τ̄ / s̄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15184"/>
            <a:ext cx="3977639" cy="60350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24912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τ̄ = the fitted plausibility bar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615184"/>
            <a:ext cx="3977639" cy="60350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724912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s̄ = mean surprisal of the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64992"/>
            <a:ext cx="8138160" cy="102412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47872"/>
            <a:ext cx="75895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human input x is not in the formula.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It measures how surprising the output is, not how human.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THEOREM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Output, Two Signs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pic>
        <p:nvPicPr>
          <p:cNvPr id="9" name="Picture 8" descr="chart_sign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43584"/>
            <a:ext cx="4297680" cy="2686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1280160"/>
            <a:ext cx="3611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Fix the output: s̄ = 0.50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55648"/>
            <a:ext cx="3611880" cy="71323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1865376"/>
            <a:ext cx="32461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A · Llama-3: τ̄ = 0.5496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Reports −0.099: almost no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596896"/>
            <a:ext cx="3611880" cy="713232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706624"/>
            <a:ext cx="32461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B · Mixtral: τ̄ = 0.4155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Reports +0.169: human 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45643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Same text, same data, opposite verdicts.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41648"/>
            <a:ext cx="8138160" cy="53035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7589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Only the bar moved, and it was fitted on 2500 unrelated chat prompts.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26864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τ̄ from Xie et al. (ACL 2026), Appendix A.5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CONSEQUENCE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Not Even a Proportion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16916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44752"/>
            <a:ext cx="3474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Bounded above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56816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φ̂ &lt; 1 always.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surprising → closer to 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25296"/>
            <a:ext cx="3977639" cy="16916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44752"/>
            <a:ext cx="3474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 lower 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56816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φ̂ goes below 0.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predictable → further down.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90672"/>
            <a:ext cx="8138160" cy="84124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55264"/>
            <a:ext cx="75895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Reading it as a proportion in [0,1] fails in the estimator.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7680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authors saw these negatives and explained them inside their own framework: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“could plausibly have been generated with minimal or negligible human contribution” — Xie et al., §5.5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Claims Become Theorems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153 theorems, zero sorry, zero added axioms.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Theorems, 12 Modules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Total variation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Basic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Contamination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Contamination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Hypothesis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HypothesisTest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Refinement and observation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Refinement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and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Value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542032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Verification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VerifyBudget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2542032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21024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1024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25420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Unidentified calibration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218687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Fragmentation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Fragmentation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01568" y="3218687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1024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Corpus as 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21024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Corpus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0216" y="3218687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Package root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9672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Provenance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968496"/>
            <a:ext cx="8138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096512"/>
            <a:ext cx="7589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Lean 4 v4.15.0 + Mathlib · 153 theorems + 20 worked examples · zero sorry, zero added axioms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THE FORMALIZATION WAS WORTH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Caught Us First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12984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08176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An inequality was backwards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92224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proof failed. Lean killed our own modelling error.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25296"/>
            <a:ext cx="3977639" cy="129844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59" y="1408176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residual had no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1792224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“More verification is better” refuted; miss rate has a floor.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51760"/>
            <a:ext cx="3977639" cy="12984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monotonicities reversed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18688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We expected the budget to fall with TV. It does not.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651760"/>
            <a:ext cx="3977639" cy="129844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2834640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“Fully incommensurable” too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3218688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Forced to the exact claim: not linearly convertible.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96512"/>
            <a:ext cx="8138160" cy="47548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87952"/>
            <a:ext cx="7589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A modelling error that survives the prover will not survive a coauthor.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We Proved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22</a:t>
            </a:r>
          </a:p>
        </p:txBody>
      </p:sp>
      <p:sp>
        <p:nvSpPr>
          <p:cNvPr id="9" name="Oval 8"/>
          <p:cNvSpPr/>
          <p:nvPr/>
        </p:nvSpPr>
        <p:spPr>
          <a:xfrm>
            <a:off x="662940" y="1303020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25296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≠ absent. AI treats model output as the observation.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62940" y="1778508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700784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Detection has a ceiling. Effort does not move it.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" y="225399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76272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verification budget has a cap with no human in it.</a:t>
            </a:r>
          </a:p>
        </p:txBody>
      </p:sp>
      <p:sp>
        <p:nvSpPr>
          <p:cNvPr id="15" name="Oval 14"/>
          <p:cNvSpPr/>
          <p:nvPr/>
        </p:nvSpPr>
        <p:spPr>
          <a:xfrm>
            <a:off x="662940" y="2729484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does not measure value. Value needs a sign.</a:t>
            </a:r>
          </a:p>
        </p:txBody>
      </p:sp>
      <p:sp>
        <p:nvSpPr>
          <p:cNvPr id="17" name="Oval 16"/>
          <p:cNvSpPr/>
          <p:nvPr/>
        </p:nvSpPr>
        <p:spPr>
          <a:xfrm>
            <a:off x="662940" y="3204972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127248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sign is not identified either; an out-of-distribution bar decides it.</a:t>
            </a:r>
          </a:p>
        </p:txBody>
      </p:sp>
      <p:sp>
        <p:nvSpPr>
          <p:cNvPr id="19" name="Oval 18"/>
          <p:cNvSpPr/>
          <p:nvPr/>
        </p:nvSpPr>
        <p:spPr>
          <a:xfrm>
            <a:off x="662940" y="3680460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02736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theorems, zero sorry, zero added axioms, reproducible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05072"/>
            <a:ext cx="8138160" cy="585216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059936"/>
            <a:ext cx="75895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We do not attack existing measures; they work for their stated purpose.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We turned their prose warnings into theorems a machine can check.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Identifiability Limit</dc:title>
  <dc:subject>Identifiability of human and machine contribution</dc:subject>
  <dc:creator/>
  <cp:keywords/>
  <dc:description>153 Lean 4 theorems, zero sorry, no axioms beyond Classical.choice, Quot.sound and propext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